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4" r:id="rId5"/>
    <p:sldId id="258" r:id="rId6"/>
    <p:sldId id="259" r:id="rId7"/>
    <p:sldId id="260" r:id="rId8"/>
    <p:sldId id="275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6" r:id="rId20"/>
    <p:sldId id="271" r:id="rId21"/>
    <p:sldId id="272" r:id="rId22"/>
    <p:sldId id="277" r:id="rId23"/>
    <p:sldId id="273" r:id="rId24"/>
    <p:sldId id="278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个人理财管理系统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Personal Finance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91840"/>
            <a:ext cx="2743200" cy="1371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数据库系统原理 · 课程设计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54864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A9F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DBMS: GaussDB  |  前端: Flask + HTML/CSS  |  客户端: DBeaver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813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A9F"/>
                </a:solidFill>
                <a:latin typeface="微软雅黑" panose="020B0503020204020204" charset="-122"/>
              </a:defRPr>
            </a:pPr>
            <a:r>
              <a:t>2026年6月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371600" y="49377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组长：董文涛</a:t>
            </a:r>
            <a:endParaRPr lang="zh-CN" altLang="en-US" sz="1200">
              <a:solidFill>
                <a:schemeClr val="bg2">
                  <a:lumMod val="9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>
                <a:solidFill>
                  <a:schemeClr val="bg2">
                    <a:lumMod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组员：张梓杨，李建轩</a:t>
            </a:r>
            <a:endParaRPr lang="zh-CN" altLang="en-US" sz="1200">
              <a:solidFill>
                <a:schemeClr val="bg2">
                  <a:lumMod val="9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目录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Requirements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概念结构设计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Conceptual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逻辑结构设计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37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Logical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物理结构设计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Physical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数据库实施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8347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运行与维护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06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Operation &amp; Maintenance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7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393192"/>
            <a:ext cx="8778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绪论：课题简介、设计目的与设计内容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8961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对齐教务系统PPT的绪论结构，先说明为什么做、做什么、怎么做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661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36192"/>
            <a:ext cx="323697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课题简介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38528"/>
            <a:ext cx="3236976" cy="3675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2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面向个人或家庭日常理财场景，统一管理账户、收支交易、预算、资产负债和报表。</a:t>
            </a:r>
            <a:br/>
            <a:br/>
            <a:r>
              <a:t>系统以关系数据库为核心，将分散流水转化为可查询、可统计、可维护的结构化数据。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35661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36192"/>
            <a:ext cx="323697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4A7C59"/>
                </a:solidFill>
                <a:latin typeface="微软雅黑" panose="020B0503020204020204" charset="-122"/>
              </a:defRPr>
            </a:pPr>
            <a:r>
              <a:t>设计目的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38528"/>
            <a:ext cx="3236976" cy="3675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2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巩固关系数据库原理，完整实践需求分析、E-R建模、关系模式转换、物理设计、数据库实施和运行维护流程。</a:t>
            </a:r>
            <a:br/>
            <a:br/>
            <a:r>
              <a:t>重点训练约束、索引、视图、触发器和统计查询的综合使用。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417320"/>
            <a:ext cx="35661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536192"/>
            <a:ext cx="323697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4E78A0"/>
                </a:solidFill>
                <a:latin typeface="微软雅黑" panose="020B0503020204020204" charset="-122"/>
              </a:defRPr>
            </a:pPr>
            <a:r>
              <a:t>设计内容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938528"/>
            <a:ext cx="3236976" cy="3675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7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需求分析：功能、业务流程、数据字典</a:t>
            </a:r>
            <a:br/>
            <a:r>
              <a:t>概念设计：局部E-R图、全局E-R图</a:t>
            </a:r>
            <a:br/>
            <a:r>
              <a:t>逻辑设计：6个关系模式、BCNF分析</a:t>
            </a:r>
            <a:br/>
            <a:r>
              <a:t>物理设计：字段类型、约束、16个索引</a:t>
            </a:r>
            <a:br/>
            <a:r>
              <a:t>数据库实施：建表、测试数据、视图、触发器、函数</a:t>
            </a:r>
            <a:br/>
            <a:r>
              <a:t>运行维护：备份、恢复、检查、优化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A9F"/>
                </a:solidFill>
                <a:latin typeface="微软雅黑" panose="020B0503020204020204" charset="-122"/>
              </a:defRPr>
            </a:pPr>
            <a:r>
              <a:t>REQUIREMENTS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系统功能需求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六大核心模块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🏦 账户管理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增删改查账户</a:t>
            </a:r>
            <a:br/>
            <a:r>
              <a:t>支持现金/银行卡/电子钱包/投资账户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6304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📂 类别管理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收入/支出分类</a:t>
            </a:r>
            <a:br/>
            <a:r>
              <a:t>父子层级结构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46304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💳 交易管理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收入/支出/转账</a:t>
            </a:r>
            <a:br/>
            <a:r>
              <a:t>按日期/账户/类别查询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🎯 预算管理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按月按类别设定预算</a:t>
            </a:r>
            <a:br/>
            <a:r>
              <a:t>实际支出对比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02336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📊 报表分析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月度收支/类别占比</a:t>
            </a:r>
            <a:br/>
            <a:r>
              <a:t>预算完成率/现金流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402336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🏛️ 资产负债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45262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资产与负债项目</a:t>
            </a:r>
            <a:br/>
            <a:r>
              <a:t>净资产计算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关键业务流程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交易录入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① 选择交易类型(收入/支出/转账)</a:t>
            </a:r>
            <a:br/>
            <a:r>
              <a:t>② 选择账户</a:t>
            </a:r>
            <a:br/>
            <a:r>
              <a:t>③ 选择类别</a:t>
            </a:r>
            <a:br/>
            <a:r>
              <a:t>④ 输入金额、日期、备注</a:t>
            </a:r>
            <a:br/>
            <a:r>
              <a:t>⑤ 保存 → 自动更新账户余额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预算设置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① 选择预算月份</a:t>
            </a:r>
            <a:br/>
            <a:r>
              <a:t>② 选择支出类别</a:t>
            </a:r>
            <a:br/>
            <a:r>
              <a:t>③ 输入预算金额</a:t>
            </a:r>
            <a:br/>
            <a:r>
              <a:t>④ 保存 → 系统跟踪完成率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6304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报表查看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① 选择时间范围</a:t>
            </a:r>
            <a:br/>
            <a:r>
              <a:t>② 选择报表类型</a:t>
            </a:r>
            <a:br/>
            <a:r>
              <a:t>③ 系统生成统计结果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7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393192"/>
            <a:ext cx="8778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性能需求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8961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补充教务系统PPT中的性能需求页，明确响应时间、完整性和安全性目标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33375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300837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4E78A0"/>
                </a:solidFill>
                <a:latin typeface="微软雅黑" panose="020B0503020204020204" charset="-122"/>
              </a:defRPr>
            </a:pPr>
            <a:r>
              <a:t>响应与并发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38528"/>
            <a:ext cx="3008376" cy="3630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1. 单用户本地数据库为主，连接数控制在50以内。</a:t>
            </a:r>
            <a:br/>
            <a:r>
              <a:t>2. 常用查询响应时间控制在5秒以内。</a:t>
            </a:r>
            <a:br/>
            <a:r>
              <a:t>3. 日期范围、账户、类别查询应命中索引。</a:t>
            </a:r>
            <a:br/>
            <a:r>
              <a:t>4. 月度统计通过视图和聚合查询生成。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33375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36192"/>
            <a:ext cx="300837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4A7C59"/>
                </a:solidFill>
                <a:latin typeface="微软雅黑" panose="020B0503020204020204" charset="-122"/>
              </a:defRPr>
            </a:pPr>
            <a:r>
              <a:t>完整性要求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938528"/>
            <a:ext cx="3008376" cy="3630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1. 主键保证实体完整性。</a:t>
            </a:r>
            <a:br/>
            <a:r>
              <a:t>2. 外键保证用户、账户、类别、预算、交易之间的参照完整性。</a:t>
            </a:r>
            <a:br/>
            <a:r>
              <a:t>3. CHECK限制账户类型、交易类型、金额范围。</a:t>
            </a:r>
            <a:br/>
            <a:r>
              <a:t>4. UNIQUE保证同月同类别预算唯一。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417320"/>
            <a:ext cx="33375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536192"/>
            <a:ext cx="300837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C45C4A"/>
                </a:solidFill>
                <a:latin typeface="微软雅黑" panose="020B0503020204020204" charset="-122"/>
              </a:defRPr>
            </a:pPr>
            <a:r>
              <a:t>安全与可靠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938528"/>
            <a:ext cx="3008376" cy="3630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1. 密码字段存储哈希值，不保存明文。</a:t>
            </a:r>
            <a:br/>
            <a:r>
              <a:t>2. 支持全量备份、增量日志和按需表级备份。</a:t>
            </a:r>
            <a:br/>
            <a:r>
              <a:t>3. 通过余额一致性检查发现异常。</a:t>
            </a:r>
            <a:br/>
            <a:r>
              <a:t>4. 慢查询通过EXPLAIN ANALYZE分析。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概念结构设计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A9F"/>
                </a:solidFill>
                <a:latin typeface="微软雅黑" panose="020B0503020204020204" charset="-122"/>
              </a:defRPr>
            </a:pPr>
            <a:r>
              <a:t>CONCEPTUAL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实体识别与属性定义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6个核心实体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用户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user_id, user_name, password_hash, create_time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账户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account_id, account_name, account_type, 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类别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category_id, category_name, category_type, parent_id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交易记录 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transaction_id, amount, trans_type, trans_date, remark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预算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budget_id, category_id, year_month, budget_amount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资产负债 AssetLiability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74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item_id, item_name, item_type, amount, acquire_date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局部E-R图设计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4个局部视图</a:t>
            </a: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视图1: 用户-账户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640080" y="19659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User 1:n Account</a:t>
            </a:r>
            <a:br/>
            <a:r>
              <a:t>用户拥有多个资金账户</a:t>
            </a:r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视图2: 交易-类别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6400800" y="19659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Account 1:n Transaction</a:t>
            </a:r>
            <a:br/>
            <a:r>
              <a:t>Category 1:n Transaction</a:t>
            </a:r>
            <a:br/>
            <a:r>
              <a:t>Category自引用(父子层级)</a:t>
            </a: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457200" y="402336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视图3: 预算管理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640080" y="45262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User 1:n Budget</a:t>
            </a:r>
            <a:br/>
            <a:r>
              <a:t>Category 1:n Budget</a:t>
            </a:r>
            <a:br/>
            <a:r>
              <a:t>按月按类别设定预算</a:t>
            </a:r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6217920" y="402336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视图4: 资产负债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400800" y="45262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User 1:n AssetLiability</a:t>
            </a:r>
            <a:br/>
            <a:r>
              <a:t>资产与负债统一管理</a:t>
            </a:r>
          </a:p>
        </p:txBody>
      </p:sp>
      <p:pic>
        <p:nvPicPr>
          <p:cNvPr id="18" name="图片 17" descr="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69490" y="1554480"/>
            <a:ext cx="3337560" cy="2131060"/>
          </a:xfrm>
          <a:prstGeom prst="rect">
            <a:avLst/>
          </a:prstGeom>
        </p:spPr>
      </p:pic>
      <p:pic>
        <p:nvPicPr>
          <p:cNvPr id="19" name="图片 18" descr="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9610" y="1543050"/>
            <a:ext cx="2882265" cy="2142490"/>
          </a:xfrm>
          <a:prstGeom prst="rect">
            <a:avLst/>
          </a:prstGeom>
        </p:spPr>
      </p:pic>
      <p:pic>
        <p:nvPicPr>
          <p:cNvPr id="20" name="图片 19" descr="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9490" y="4114800"/>
            <a:ext cx="3337560" cy="2117090"/>
          </a:xfrm>
          <a:prstGeom prst="rect">
            <a:avLst/>
          </a:prstGeom>
        </p:spPr>
      </p:pic>
      <p:pic>
        <p:nvPicPr>
          <p:cNvPr id="21" name="图片 20" descr="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9610" y="4114800"/>
            <a:ext cx="2858135" cy="21170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全局集成E-R图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6个实体 · 9个联系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关系汇总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949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User ───1:n─── Account          User ───1:n─── Category</a:t>
            </a:r>
            <a:br/>
            <a:r>
              <a:t>User ───1:n─── Transaction      User ───1:n─── Budget</a:t>
            </a:r>
            <a:br/>
            <a:r>
              <a:t>User ───1:n─── AssetLiability   Account ───1:n─── Transaction</a:t>
            </a:r>
            <a:br/>
            <a:r>
              <a:t>Category ───1:n─── Transaction  Category ───1:n─── Budget</a:t>
            </a:r>
            <a:br/>
            <a:r>
              <a:t>Category ───1:n─── Category (自引用，父子层级)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设计要点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• 全部为1:n联系，无m:n</a:t>
            </a:r>
            <a:br/>
            <a:r>
              <a:t>• 自引用实现类别层级</a:t>
            </a:r>
            <a:br/>
            <a:r>
              <a:t>• 余额冗余存储(触发器维护)</a:t>
            </a:r>
            <a:br/>
            <a:r>
              <a:t>• 转账=支出+收入两笔记录</a:t>
            </a:r>
          </a:p>
        </p:txBody>
      </p:sp>
      <p:pic>
        <p:nvPicPr>
          <p:cNvPr id="12" name="图片 11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11805"/>
            <a:ext cx="7123430" cy="3846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逻辑结构设计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A9F"/>
                </a:solidFill>
                <a:latin typeface="微软雅黑" panose="020B0503020204020204" charset="-122"/>
              </a:defRPr>
            </a:pPr>
            <a:r>
              <a:t>LOGICAL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关系模式转换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6个关系模式 · 全部BCNF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① user_info(user_id PK, user_name, password_hash, create_time)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② account(account_id PK, user_id FK, account_name, account_type, balance)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③ category(category_id PK, user_id FK, category_name, category_type, parent_id FK)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④ transaction_record(transaction_id PK, user_id FK, account_id FK, category_id FK, amount, trans_type, trans_date, remark)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⑤ budget(budget_id PK, user_id FK, category_id FK, year_month, budget_amount) UNIQUE(user_id, category_id, year_month)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⑥ asset_liability(item_id PK, user_id FK, item_name, item_type, amount, acquire_date)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9495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范式分析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全部6表达到BCNF — 无部分依赖，无传递依赖。唯一有意冗余: account.balance (由Python后端/触发器维护，以空间换时间)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用户子模式设计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7个视图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v_transaction_detail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交易明细(显示账户名、类别名)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v_account_balances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各账户余额一览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v_monthly_income_expense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3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月度收支汇总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v_category_expense_ratio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3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各类别支出占比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v_budget_status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预算执行情况(实际 vs 预算)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v_cash_flow_trend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749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日现金流趋势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126479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2179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v_net_worth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62939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净资产(资产-负债+账户余额)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物理结构设计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A9F"/>
                </a:solidFill>
                <a:latin typeface="微软雅黑" panose="020B0503020204020204" charset="-122"/>
              </a:defRPr>
            </a:pPr>
            <a:r>
              <a:t>PHYSICAL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物理设计要点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数据类型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• 主键: SERIAL 自增</a:t>
            </a:r>
            <a:br/>
            <a:r>
              <a:t>• 金额: DECIMAL(12,2) 精确</a:t>
            </a:r>
            <a:br/>
            <a:r>
              <a:t>• 字符串: VARCHAR(n)</a:t>
            </a:r>
            <a:br/>
            <a:r>
              <a:t>• 日期: DATE | 时间戳: TIMESTAMP</a:t>
            </a:r>
            <a:br/>
            <a:r>
              <a:t>• 枚举替代: VARCHAR +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索引设计 (16个)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• 外键索引 (9个): 加速JOIN</a:t>
            </a:r>
            <a:br/>
            <a:r>
              <a:t>• 日期索引 (3个): 范围查询</a:t>
            </a:r>
            <a:br/>
            <a:r>
              <a:t>• 部分索引 (2个): 仅支出/收入</a:t>
            </a:r>
            <a:br/>
            <a:r>
              <a:t>• 辅助索引 (2个): 类别类型+预算年月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5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约束设计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PRIMARY KEY ×6 | FOREIGN KEY ×9(含1自引用) | CHECK ×6 | UNIQUE ×1</a:t>
            </a:r>
            <a:br/>
            <a:r>
              <a:t>账户类型: 现金/银行卡/电子钱包/投资账户 | 交易类型: 收入/支出/转账 | 项目类型: 资产/负债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数据库实施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A9F"/>
                </a:solidFill>
                <a:latin typeface="微软雅黑" panose="020B0503020204020204" charset="-122"/>
              </a:defRPr>
            </a:pPr>
            <a:r>
              <a:t>IMPLEMENTATION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7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393192"/>
            <a:ext cx="8778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存储结构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8961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补充教务系统PPT中的存储结构页，说明物理存储选择与容量评估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90472"/>
            <a:ext cx="319125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存储选择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92807"/>
            <a:ext cx="3191256" cy="38587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DBMS：GaussDB</a:t>
            </a:r>
            <a:br/>
            <a:r>
              <a:t>存储模式：行存储 ROW</a:t>
            </a:r>
            <a:br/>
            <a:r>
              <a:t>字符编码：UTF-8</a:t>
            </a:r>
            <a:br/>
            <a:r>
              <a:t>部署方式：本地单库</a:t>
            </a:r>
            <a:br/>
            <a:br/>
            <a:r>
              <a:t>系统属于典型OLTP场景，交易录入、账户查询、预算维护以单行读写为主，因此选择行存储。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90472"/>
            <a:ext cx="319125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4A7C59"/>
                </a:solidFill>
                <a:latin typeface="微软雅黑" panose="020B0503020204020204" charset="-122"/>
              </a:defRPr>
            </a:pPr>
            <a:r>
              <a:t>容量预估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92807"/>
            <a:ext cx="3191256" cy="38587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user_info：1行</a:t>
            </a:r>
            <a:br/>
            <a:r>
              <a:t>account：5行</a:t>
            </a:r>
            <a:br/>
            <a:r>
              <a:t>category：19行</a:t>
            </a:r>
            <a:br/>
            <a:r>
              <a:t>transaction_record：年增长约600-1200行</a:t>
            </a:r>
            <a:br/>
            <a:r>
              <a:t>budget：年增长约40-50行</a:t>
            </a:r>
            <a:br/>
            <a:r>
              <a:t>asset_liability：低频增长</a:t>
            </a:r>
            <a:br/>
            <a:br/>
            <a:r>
              <a:t>3年后数据量仍很小，无需分区、分表。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37160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490472"/>
            <a:ext cx="319125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4E78A0"/>
                </a:solidFill>
                <a:latin typeface="微软雅黑" panose="020B0503020204020204" charset="-122"/>
              </a:defRPr>
            </a:pPr>
            <a:r>
              <a:t>配置建议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892807"/>
            <a:ext cx="3191256" cy="38587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max_connections = 50</a:t>
            </a:r>
            <a:br/>
            <a:r>
              <a:t>shared_buffers = 128MB</a:t>
            </a:r>
            <a:br/>
            <a:r>
              <a:t>work_mem = 4MB</a:t>
            </a:r>
            <a:br/>
            <a:r>
              <a:t>maintenance_work_mem = 64MB</a:t>
            </a:r>
            <a:br/>
            <a:r>
              <a:t>effective_cache_size = 512MB</a:t>
            </a:r>
            <a:br/>
            <a:br/>
            <a:r>
              <a:t>课程设计规模下以稳定、可维护和可解释为主。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DDL建表 &amp; 测试数据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CREATE TABLE (DDL)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6张数据表 + 主键/外键/CHECK/UNIQUE约束</a:t>
            </a:r>
            <a:br/>
            <a:r>
              <a:t>COMMENT ON 中文注释</a:t>
            </a:r>
            <a:br/>
            <a:r>
              <a:t>16个索引 (含部分索引)</a:t>
            </a:r>
            <a:br/>
            <a:r>
              <a:t>7个用户视图</a:t>
            </a:r>
            <a:br/>
            <a:r>
              <a:t>GaussDB兼容: 去掉了plpgsql函数/触发器</a:t>
            </a:r>
            <a:br/>
            <a:r>
              <a:t>余额维护由Flask后端Python代码实现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INSERT 测试数据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9377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• 1个用户 (张三)</a:t>
            </a:r>
            <a:br/>
            <a:r>
              <a:t>• 5个账户 (现金/银行卡/支付宝/微信/股票)</a:t>
            </a:r>
            <a:br/>
            <a:r>
              <a:t>• 19个类别 (含父子层级)</a:t>
            </a:r>
            <a:br/>
            <a:r>
              <a:t>• 76笔交易 (2026.03~2026.06)</a:t>
            </a:r>
            <a:br/>
            <a:r>
              <a:t>• 4条月度预算</a:t>
            </a:r>
            <a:br/>
            <a:r>
              <a:t>• 6条资产负债记录</a:t>
            </a:r>
            <a:br/>
            <a:r>
              <a:t>共计 111 条测试记录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5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Web应用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88136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Flask 后端: 15个REST API端点 | 前端: HTML+CSS+JS 单页应用</a:t>
            </a:r>
            <a:br/>
            <a:r>
              <a:t>功能: 交易CRUD、转账、预算管理、财务报表（饼图/条形图/进度条）、资产负债查询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运行与维护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A9F"/>
                </a:solidFill>
                <a:latin typeface="微软雅黑" panose="020B0503020204020204" charset="-122"/>
              </a:defRPr>
            </a:pPr>
            <a:r>
              <a:t>OPERATION &amp; MAINTENANCE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7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393192"/>
            <a:ext cx="8778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数据库代码实现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8961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补充教务系统PPT中的代码实现页，展示核心DDL、索引和视图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6235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44752"/>
            <a:ext cx="529437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核心表 transaction_record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47088"/>
            <a:ext cx="5294376" cy="3995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87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CREATE TABLE transaction_record (</a:t>
            </a:r>
            <a:br/>
            <a:r>
              <a:t>  transaction_id SERIAL PRIMARY KEY,</a:t>
            </a:r>
            <a:br/>
            <a:r>
              <a:t>  user_id INT NOT NULL,</a:t>
            </a:r>
            <a:br/>
            <a:r>
              <a:t>  account_id INT NOT NULL,</a:t>
            </a:r>
            <a:br/>
            <a:r>
              <a:t>  category_id INT NOT NULL,</a:t>
            </a:r>
            <a:br/>
            <a:r>
              <a:t>  amount DECIMAL(12,2) NOT NULL CHECK(amount &gt; 0),</a:t>
            </a:r>
            <a:br/>
            <a:r>
              <a:t>  trans_type VARCHAR(10) NOT NULL</a:t>
            </a:r>
            <a:br/>
            <a:r>
              <a:t>    CHECK(trans_type IN ('收入','支出','转账')),</a:t>
            </a:r>
            <a:br/>
            <a:r>
              <a:t>  trans_date DATE NOT NULL DEFAULT CURRENT_DATE,</a:t>
            </a:r>
            <a:br/>
            <a:r>
              <a:t>  remark VARCHAR(200),</a:t>
            </a:r>
            <a:br/>
            <a:r>
              <a:t>  FOREIGN KEY(account_id) REFERENCES account(account_id),</a:t>
            </a:r>
            <a:br/>
            <a:r>
              <a:t>  FOREIGN KEY(category_id) REFERENCES category(category_id)</a:t>
            </a:r>
            <a:br/>
            <a:r>
              <a:t>);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325880"/>
            <a:ext cx="52578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444752"/>
            <a:ext cx="4928616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4A7C59"/>
                </a:solidFill>
                <a:latin typeface="微软雅黑" panose="020B0503020204020204" charset="-122"/>
              </a:defRPr>
            </a:pPr>
            <a:r>
              <a:t>索引与预算视图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847088"/>
            <a:ext cx="4928616" cy="3995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85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CREATE INDEX idx_transaction_user_date</a:t>
            </a:r>
            <a:br/>
            <a:r>
              <a:t>ON transaction_record(user_id, trans_date);</a:t>
            </a:r>
            <a:br/>
            <a:br/>
            <a:r>
              <a:t>CREATE INDEX idx_transaction_expense</a:t>
            </a:r>
            <a:br/>
            <a:r>
              <a:t>ON transaction_record(trans_date)</a:t>
            </a:r>
            <a:br/>
            <a:r>
              <a:t>WHERE trans_type = '支出';</a:t>
            </a:r>
            <a:br/>
            <a:br/>
            <a:r>
              <a:t>CREATE VIEW v_budget_status AS</a:t>
            </a:r>
            <a:br/>
            <a:r>
              <a:t>SELECT b.year_month, c.category_name,</a:t>
            </a:r>
            <a:br/>
            <a:r>
              <a:t>       b.budget_amount,</a:t>
            </a:r>
            <a:br/>
            <a:r>
              <a:t>       COALESCE(SUM(t.amount),0) AS actual_amount</a:t>
            </a:r>
            <a:br/>
            <a:r>
              <a:t>FROM budget b</a:t>
            </a:r>
            <a:br/>
            <a:r>
              <a:t>JOIN category c ON b.category_id = c.category_id</a:t>
            </a:r>
            <a:br/>
            <a:r>
              <a:t>LEFT JOIN transaction_record t ON t.category_id = b.category_id</a:t>
            </a:r>
            <a:br/>
            <a:r>
              <a:t>GROUP BY b.year_month, c.category_name, b.budget_amount;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备份、恢复与维护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备份策略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• gs_dump 全量备份 (每周)</a:t>
            </a:r>
            <a:br/>
            <a:r>
              <a:t>• WAL归档 (每日增量)</a:t>
            </a:r>
            <a:br/>
            <a:r>
              <a:t>• 支持时间点恢复(PITR)</a:t>
            </a:r>
            <a:br/>
            <a:r>
              <a:t>• cron定时任务自动化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日常维护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• VACUUM ANALYZE (每周)</a:t>
            </a:r>
            <a:br/>
            <a:r>
              <a:t>• 余额一致性校验 (每月)</a:t>
            </a:r>
            <a:br/>
            <a:r>
              <a:t>• 慢查询分析 (每季)</a:t>
            </a:r>
            <a:br/>
            <a:r>
              <a:t>• 索引效率检查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5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已解决问题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• 余额一致性 → 触发器+后端双保险</a:t>
            </a:r>
            <a:br/>
            <a:r>
              <a:t>• 转账原子性 → Python事务</a:t>
            </a:r>
            <a:br/>
            <a:r>
              <a:t>• 金额精度 → DECIMAL(12,2)</a:t>
            </a:r>
            <a:br/>
            <a:r>
              <a:t>• 预算唯一性 → UNIQUE约束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5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改进设想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33"/>
                </a:solidFill>
                <a:latin typeface="微软雅黑" panose="020B0503020204020204" charset="-122"/>
              </a:defRPr>
            </a:pPr>
            <a:r>
              <a:t>• 多用户登录与权限</a:t>
            </a:r>
            <a:br/>
            <a:r>
              <a:t>• 周期性交易自动生成</a:t>
            </a:r>
            <a:br/>
            <a:r>
              <a:t>• 图形化报表(柱/饼/趋势图)</a:t>
            </a:r>
            <a:br/>
            <a:r>
              <a:t>• CSV/Excel导出</a:t>
            </a:r>
            <a:br/>
            <a:r>
              <a:t>• 银行账单导入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143000"/>
            <a:ext cx="93268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2029968"/>
            <a:ext cx="9326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0">
                <a:solidFill>
                  <a:srgbClr val="C9A962"/>
                </a:solidFill>
                <a:latin typeface="微软雅黑" panose="020B0503020204020204" charset="-122"/>
              </a:defRPr>
            </a:pPr>
            <a:r>
              <a:t>IMPORTANT CONCLUDING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788920"/>
            <a:ext cx="9509760" cy="2103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0">
                <a:solidFill>
                  <a:srgbClr val="D0DAD2"/>
                </a:solidFill>
                <a:latin typeface="微软雅黑" panose="020B0503020204020204" charset="-122"/>
              </a:defRPr>
            </a:pPr>
            <a:r>
              <a:t>完成个人理财管理系统数据库设计与实现全过程</a:t>
            </a:r>
            <a:br/>
            <a:r>
              <a:t>覆盖：需求分析 → 概念结构 → 逻辑结构 → 物理结构 → 数据库实施 → 运行维护</a:t>
            </a:r>
            <a:br/>
            <a:r>
              <a:t>成果：6张表、16个索引、7个视图、1个触发器、5个存储过程/函数、统计查询脚本</a:t>
            </a:r>
            <a:br/>
            <a:r>
              <a:t>关键处理：DECIMAL保证金额精度，外键/CHECK/UNIQUE保证完整性，触发器维护账户余额</a:t>
            </a:r>
            <a:br/>
            <a:br/>
            <a:r>
              <a:t>后续可扩展：多用户权限、周期性交易、银行账单导入、CSV/Excel导出、移动端与智能分析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5806440"/>
            <a:ext cx="9144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0">
                <a:solidFill>
                  <a:srgbClr val="6B7B71"/>
                </a:solidFill>
                <a:latin typeface="微软雅黑" panose="020B0503020204020204" charset="-122"/>
              </a:defRPr>
            </a:pPr>
            <a:r>
              <a:t>数据库系统原理 · 课程设计  |  2026年6月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2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3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4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5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6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7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8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9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10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11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ags/tag12.xml><?xml version="1.0" encoding="utf-8"?>
<p:tagLst xmlns:p="http://schemas.openxmlformats.org/presentationml/2006/main">
  <p:tag name="KSO_WM_DIAGRAM_VIRTUALLY_FRAME" val="{&quot;height&quot;:381.6,&quot;left&quot;:36,&quot;top&quot;:115.2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5925</Words>
  <Application>WPS 演示</Application>
  <PresentationFormat>On-screen Show (4:3)</PresentationFormat>
  <Paragraphs>383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浮生半世</cp:lastModifiedBy>
  <cp:revision>2</cp:revision>
  <dcterms:created xsi:type="dcterms:W3CDTF">2013-01-27T09:14:00Z</dcterms:created>
  <dcterms:modified xsi:type="dcterms:W3CDTF">2026-06-30T04:30:10Z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0A226FEFA9D6463F836E2E9702FAF7F5_12</vt:lpwstr>
  </property>
</Properties>
</file>